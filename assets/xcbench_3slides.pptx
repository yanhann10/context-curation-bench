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512C"/>
          </a:solidFill>
          <a:ln w="12700">
            <a:solidFill>
              <a:srgbClr val="D951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28655" y="320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pPr algn="r" indent="0" marL="0">
              <a:buNone/>
            </a:pPr>
            <a:r>
              <a:rPr lang="en-US" sz="1100" spc="400" kern="0" dirty="0">
                <a:solidFill>
                  <a:srgbClr val="CDB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DB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CCBENCH  ·  HR LIVING DOCS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00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CDB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·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822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D95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CONTEXT  CURATION  BENCHMARK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6858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78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</a:t>
            </a:r>
            <a:endParaRPr lang="en-US" sz="78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78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stuffing</a:t>
            </a:r>
            <a:endParaRPr lang="en-US" sz="78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78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still </a:t>
            </a:r>
            <a:pPr indent="0" marL="0">
              <a:lnSpc>
                <a:spcPct val="92000"/>
              </a:lnSpc>
              <a:buNone/>
            </a:pPr>
            <a:r>
              <a:rPr lang="en-US" sz="7800" b="1" i="1" dirty="0">
                <a:solidFill>
                  <a:srgbClr val="D951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</a:t>
            </a:r>
            <a:pPr indent="0" marL="0">
              <a:lnSpc>
                <a:spcPct val="92000"/>
              </a:lnSpc>
              <a:buNone/>
            </a:pPr>
            <a:r>
              <a:rPr lang="en-US" sz="78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7800" dirty="0"/>
          </a:p>
        </p:txBody>
      </p:sp>
      <p:sp>
        <p:nvSpPr>
          <p:cNvPr id="8" name="Text 6"/>
          <p:cNvSpPr/>
          <p:nvPr/>
        </p:nvSpPr>
        <p:spPr>
          <a:xfrm>
            <a:off x="685800" y="4663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context strategies measured on a New-Hire Onboarding Agent — stale GitLab Handbook cross-cut with fresh, HR-validated Slack threads. If the full-window default still wins, curation is a waste of cycles. If not, how cheap can ‘right’ actually get?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0" y="1417320"/>
            <a:ext cx="3749040" cy="4206240"/>
          </a:xfrm>
          <a:prstGeom prst="rect">
            <a:avLst/>
          </a:prstGeom>
          <a:solidFill>
            <a:srgbClr val="2B2B2B"/>
          </a:solidFill>
          <a:ln w="12700">
            <a:solidFill>
              <a:srgbClr val="CDBE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1417320"/>
            <a:ext cx="3749040" cy="73152"/>
          </a:xfrm>
          <a:prstGeom prst="rect">
            <a:avLst/>
          </a:prstGeom>
          <a:solidFill>
            <a:srgbClr val="D9512C"/>
          </a:solidFill>
          <a:ln w="12700">
            <a:solidFill>
              <a:srgbClr val="D951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95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 GAP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9244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B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Full-context stuffing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92440" y="23774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$0.67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8092440" y="3291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0.995  ·  19,957 tok / q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92440" y="3749040"/>
            <a:ext cx="3108960" cy="0"/>
          </a:xfrm>
          <a:prstGeom prst="line">
            <a:avLst/>
          </a:prstGeom>
          <a:noFill/>
          <a:ln w="9525">
            <a:solidFill>
              <a:srgbClr val="6E65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2440" y="3931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B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router ceiling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92440" y="4206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951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$0.14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8092440" y="5120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1.000  ·  ~5× cheaper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512C"/>
          </a:solidFill>
          <a:ln w="12700">
            <a:solidFill>
              <a:srgbClr val="D951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28655" y="320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pPr algn="r" indent="0" marL="0">
              <a:buNone/>
            </a:pPr>
            <a:r>
              <a:rPr lang="en-US" sz="1100" spc="400" kern="0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CCBENCH  ·  HR LIVING DOCS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00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·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8229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D95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11556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strategies, one messy corpus.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2606040"/>
            <a:ext cx="4572000" cy="1600200"/>
          </a:xfrm>
          <a:prstGeom prst="rect">
            <a:avLst/>
          </a:prstGeom>
          <a:solidFill>
            <a:srgbClr val="EBE3D3"/>
          </a:solidFill>
          <a:ln w="6350">
            <a:solidFill>
              <a:srgbClr val="CDBE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606040"/>
            <a:ext cx="73152" cy="1600200"/>
          </a:xfrm>
          <a:prstGeom prst="rect">
            <a:avLst/>
          </a:prstGeom>
          <a:solidFill>
            <a:srgbClr val="8A6E3B"/>
          </a:solidFill>
          <a:ln w="12700">
            <a:solidFill>
              <a:srgbClr val="8A6E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2743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 GitLab Handbook docs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41832" y="30906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2026-01-01  ·  stale on purpose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41832" y="340156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PTO · expenses · IT onboarding · benefits · parental leave · travel · remote work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4343400"/>
            <a:ext cx="4572000" cy="1600200"/>
          </a:xfrm>
          <a:prstGeom prst="rect">
            <a:avLst/>
          </a:prstGeom>
          <a:solidFill>
            <a:srgbClr val="EBE3D3"/>
          </a:solidFill>
          <a:ln w="6350">
            <a:solidFill>
              <a:srgbClr val="CDBE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4343400"/>
            <a:ext cx="73152" cy="1600200"/>
          </a:xfrm>
          <a:prstGeom prst="rect">
            <a:avLst/>
          </a:prstGeom>
          <a:solidFill>
            <a:srgbClr val="D9512C"/>
          </a:solidFill>
          <a:ln w="12700">
            <a:solidFill>
              <a:srgbClr val="D951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4480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 Slack threads  (API shape)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41832" y="4828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 ·  HR-validated  ·  sometimes contradicts handbook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41832" y="513892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Qs across 4 categories:  portal_only · slack_contradicts · slack_only · needs_both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228600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 COMPARED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0" y="2697480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51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2697480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full_context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778240" y="2697480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 every doc + every thread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0" y="3099816"/>
            <a:ext cx="5669280" cy="0"/>
          </a:xfrm>
          <a:prstGeom prst="line">
            <a:avLst/>
          </a:prstGeom>
          <a:noFill/>
          <a:ln w="6350">
            <a:solidFill>
              <a:srgbClr val="CDBE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3136392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51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0" y="3136392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meta_harness_optimized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778240" y="3136392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proposer mutates a typed CurationSpec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0" y="3538728"/>
            <a:ext cx="5669280" cy="0"/>
          </a:xfrm>
          <a:prstGeom prst="line">
            <a:avLst/>
          </a:prstGeom>
          <a:noFill/>
          <a:ln w="6350">
            <a:solidFill>
              <a:srgbClr val="CDBE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3575304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51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0" y="3575304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rag_embedding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778240" y="3575304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bge-small + FAISS, top-k chunk retrieval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0" y="3977640"/>
            <a:ext cx="5669280" cy="0"/>
          </a:xfrm>
          <a:prstGeom prst="line">
            <a:avLst/>
          </a:prstGeom>
          <a:noFill/>
          <a:ln w="6350">
            <a:solidFill>
              <a:srgbClr val="CDBE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4014216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51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0" y="4014216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778240" y="4014216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map-summaries → LLM picks 2–5 doc_ids → expand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943600" y="4416552"/>
            <a:ext cx="5669280" cy="0"/>
          </a:xfrm>
          <a:prstGeom prst="line">
            <a:avLst/>
          </a:prstGeom>
          <a:noFill/>
          <a:ln w="6350">
            <a:solidFill>
              <a:srgbClr val="CDBE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4453128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51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00800" y="4453128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agent_managed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778240" y="4453128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tool-use loop with list_* / get_* over 6 turns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943600" y="4855464"/>
            <a:ext cx="5669280" cy="0"/>
          </a:xfrm>
          <a:prstGeom prst="line">
            <a:avLst/>
          </a:prstGeom>
          <a:noFill/>
          <a:ln w="6350">
            <a:solidFill>
              <a:srgbClr val="CDBE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0" y="4892040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51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00800" y="4892040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cascade_router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778240" y="4892040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 → self-verify → agent → verify → full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943600" y="5294376"/>
            <a:ext cx="5669280" cy="0"/>
          </a:xfrm>
          <a:prstGeom prst="line">
            <a:avLst/>
          </a:prstGeom>
          <a:noFill/>
          <a:ln w="6350">
            <a:solidFill>
              <a:srgbClr val="CDBEA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0" y="5330952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51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400800" y="5330952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778240" y="5330952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 ∥ agent_managed, judge picks the winner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85800" y="5989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Sonnet 4.6.   Judge / proposer: Opus 4.7.   Metrics: quality · f1 · tokens · latency · $.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512C"/>
          </a:solidFill>
          <a:ln w="12700">
            <a:solidFill>
              <a:srgbClr val="D951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28655" y="320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pPr algn="r" indent="0" marL="0">
              <a:buNone/>
            </a:pPr>
            <a:r>
              <a:rPr lang="en-US" sz="1100" spc="400" kern="0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CCBENCH  ·  HR LIVING DOCS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00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·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8229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D95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 ·  N=10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11556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Ensemble </a:t>
            </a:r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matches stuffing </a:t>
            </a:r>
            <a:pPr indent="0" marL="0">
              <a:lnSpc>
                <a:spcPct val="105000"/>
              </a:lnSpc>
              <a:buNone/>
            </a:pPr>
            <a:r>
              <a:rPr lang="en-US" sz="3400" b="1" i="1" dirty="0">
                <a:solidFill>
                  <a:srgbClr val="D951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64% the cost.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85800" y="2194560"/>
            <a:ext cx="676656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CDBE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3774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 PER  10  QUESTIONS  ($USD)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" y="23774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 below each bar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88720" y="4069080"/>
            <a:ext cx="6035040" cy="0"/>
          </a:xfrm>
          <a:prstGeom prst="line">
            <a:avLst/>
          </a:prstGeom>
          <a:noFill/>
          <a:ln w="6350">
            <a:solidFill>
              <a:srgbClr val="EBE3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39776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$0.50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188720" y="3017520"/>
            <a:ext cx="6035040" cy="0"/>
          </a:xfrm>
          <a:prstGeom prst="line">
            <a:avLst/>
          </a:prstGeom>
          <a:noFill/>
          <a:ln w="6350">
            <a:solidFill>
              <a:srgbClr val="EBE3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29260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$1.00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188720" y="5120640"/>
            <a:ext cx="6035040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3711550"/>
            <a:ext cx="690372" cy="1409090"/>
          </a:xfrm>
          <a:prstGeom prst="rect">
            <a:avLst/>
          </a:prstGeom>
          <a:solidFill>
            <a:srgbClr val="3A342C"/>
          </a:solidFill>
          <a:ln w="12700">
            <a:solidFill>
              <a:srgbClr val="3A34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473806"/>
            <a:ext cx="9646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$0.67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51560" y="5175504"/>
            <a:ext cx="9646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full_ctx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51560" y="5394960"/>
            <a:ext cx="9646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0.995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952244" y="4214195"/>
            <a:ext cx="690372" cy="906445"/>
          </a:xfrm>
          <a:prstGeom prst="rect">
            <a:avLst/>
          </a:prstGeom>
          <a:solidFill>
            <a:srgbClr val="3A342C"/>
          </a:solidFill>
          <a:ln w="12700">
            <a:solidFill>
              <a:srgbClr val="3A34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15084" y="3976451"/>
            <a:ext cx="9646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815084" y="5175504"/>
            <a:ext cx="9646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meta_h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815084" y="5394960"/>
            <a:ext cx="9646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0.890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715768" y="4824100"/>
            <a:ext cx="690372" cy="296540"/>
          </a:xfrm>
          <a:prstGeom prst="rect">
            <a:avLst/>
          </a:prstGeom>
          <a:solidFill>
            <a:srgbClr val="3A342C"/>
          </a:solidFill>
          <a:ln w="12700">
            <a:solidFill>
              <a:srgbClr val="3A34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78608" y="4586356"/>
            <a:ext cx="9646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578608" y="5175504"/>
            <a:ext cx="9646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578608" y="5394960"/>
            <a:ext cx="9646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0.925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479292" y="4872472"/>
            <a:ext cx="690372" cy="248168"/>
          </a:xfrm>
          <a:prstGeom prst="rect">
            <a:avLst/>
          </a:prstGeom>
          <a:solidFill>
            <a:srgbClr val="3A342C"/>
          </a:solidFill>
          <a:ln w="12700">
            <a:solidFill>
              <a:srgbClr val="3A34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42132" y="4634728"/>
            <a:ext cx="9646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42132" y="5175504"/>
            <a:ext cx="9646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42132" y="5394960"/>
            <a:ext cx="9646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0.910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242816" y="4447642"/>
            <a:ext cx="690372" cy="672998"/>
          </a:xfrm>
          <a:prstGeom prst="rect">
            <a:avLst/>
          </a:prstGeom>
          <a:solidFill>
            <a:srgbClr val="3A342C"/>
          </a:solidFill>
          <a:ln w="12700">
            <a:solidFill>
              <a:srgbClr val="3A342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05656" y="4209898"/>
            <a:ext cx="9646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$0.32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105656" y="5175504"/>
            <a:ext cx="9646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105656" y="5394960"/>
            <a:ext cx="9646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0.990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006340" y="3219420"/>
            <a:ext cx="690372" cy="1901220"/>
          </a:xfrm>
          <a:prstGeom prst="rect">
            <a:avLst/>
          </a:prstGeom>
          <a:solidFill>
            <a:srgbClr val="BEB09A"/>
          </a:solidFill>
          <a:ln w="12700">
            <a:solidFill>
              <a:srgbClr val="BEB0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9180" y="2981676"/>
            <a:ext cx="9646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$0.90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69180" y="5175504"/>
            <a:ext cx="9646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69180" y="5394960"/>
            <a:ext cx="9646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0.925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769864" y="4220505"/>
            <a:ext cx="690372" cy="900135"/>
          </a:xfrm>
          <a:prstGeom prst="rect">
            <a:avLst/>
          </a:prstGeom>
          <a:solidFill>
            <a:srgbClr val="D9512C"/>
          </a:solidFill>
          <a:ln w="12700">
            <a:solidFill>
              <a:srgbClr val="D9512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32704" y="3982761"/>
            <a:ext cx="9646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5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$0.43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632704" y="5175504"/>
            <a:ext cx="9646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632704" y="5394960"/>
            <a:ext cx="9646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0.995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533388" y="4830409"/>
            <a:ext cx="690372" cy="290231"/>
          </a:xfrm>
          <a:prstGeom prst="rect">
            <a:avLst/>
          </a:prstGeom>
          <a:solidFill>
            <a:srgbClr val="8A6E3B"/>
          </a:solidFill>
          <a:ln w="12700">
            <a:solidFill>
              <a:srgbClr val="8A6E3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96228" y="4592665"/>
            <a:ext cx="9646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5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$0.14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396228" y="5175504"/>
            <a:ext cx="9646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396228" y="5394960"/>
            <a:ext cx="9646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1.000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680960" y="230428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51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138160" y="2286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wins as built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138160" y="258775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 ∥ agent_managed + judge → 0.995 quality @ $0.43. Beats full-context on cost, ties on quality.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680960" y="31089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51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8138160" y="30906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self-verify fails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138160" y="339242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$0.90 and 0.925 — worse than its own tier-2. Same-model verifier is over-confident on confidently-wrong outputs.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680960" y="39136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51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8138160" y="38953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is only $0.29 away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8138160" y="4197096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hierarchical 9/10. A cross-model or learned router captures most of the ceiling.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7680960" y="471830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51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8138160" y="47000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is table stakes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8138160" y="5001768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strategies nail slack_contradicts at Sonnet 4.6. Recency got folded into the quality metric.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85800" y="5760720"/>
            <a:ext cx="10972800" cy="0"/>
          </a:xfrm>
          <a:prstGeom prst="line">
            <a:avLst/>
          </a:prstGeom>
          <a:noFill/>
          <a:ln w="15875">
            <a:solidFill>
              <a:srgbClr val="D9512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5800" y="58704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5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 </a:t>
            </a:r>
            <a:pPr indent="0" marL="0">
              <a:buNone/>
            </a:pPr>
            <a:r>
              <a:rPr lang="en-US" sz="11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Stuffing no longer wins by default. The cheapest win is a routed ensemble; a cross-model verifier closes the gap to oracle.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 Curation Benchmark</dc:title>
  <dc:subject>PptxGenJS Presentation</dc:subject>
  <dc:creator>ccbench</dc:creator>
  <cp:lastModifiedBy>ccbench</cp:lastModifiedBy>
  <cp:revision>1</cp:revision>
  <dcterms:created xsi:type="dcterms:W3CDTF">2026-04-19T00:33:03Z</dcterms:created>
  <dcterms:modified xsi:type="dcterms:W3CDTF">2026-04-19T00:33:03Z</dcterms:modified>
</cp:coreProperties>
</file>